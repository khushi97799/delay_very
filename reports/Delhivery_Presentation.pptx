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OSRM Predicted (hrs)</c:v>
                </c:pt>
              </c:strCache>
            </c:strRef>
          </c:tx>
          <c:spPr>
            <a:solidFill>
              <a:srgbClr val="F484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&lt;1h</c:v>
                  </c:pt>
                  <c:pt idx="1">
                    <c:v>1-2h</c:v>
                  </c:pt>
                  <c:pt idx="2">
                    <c:v>2-4h</c:v>
                  </c:pt>
                  <c:pt idx="3">
                    <c:v>4-6h</c:v>
                  </c:pt>
                  <c:pt idx="4">
                    <c:v>6-12h</c:v>
                  </c:pt>
                  <c:pt idx="5">
                    <c:v>&gt;12h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 Delivery (hrs)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&lt;1h</c:v>
                  </c:pt>
                  <c:pt idx="1">
                    <c:v>1-2h</c:v>
                  </c:pt>
                  <c:pt idx="2">
                    <c:v>2-4h</c:v>
                  </c:pt>
                  <c:pt idx="3">
                    <c:v>4-6h</c:v>
                  </c:pt>
                  <c:pt idx="4">
                    <c:v>6-12h</c:v>
                  </c:pt>
                  <c:pt idx="5">
                    <c:v>&gt;12h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14</c:v>
                </c:pt>
                <c:pt idx="2">
                  <c:v>31</c:v>
                </c:pt>
                <c:pt idx="3">
                  <c:v>28</c:v>
                </c:pt>
                <c:pt idx="4">
                  <c:v>16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Delivery Time Bracket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% of Shipments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ETA Error (hrs)</c:v>
                </c:pt>
              </c:strCache>
            </c:strRef>
          </c:tx>
          <c:spPr>
            <a:solidFill>
              <a:srgbClr val="028090"/>
            </a:solidFill>
            <a:ln w="2540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50</c:v>
                </c:pt>
                <c:pt idx="1">
                  <c:v>80</c:v>
                </c:pt>
                <c:pt idx="2">
                  <c:v>120</c:v>
                </c:pt>
                <c:pt idx="3">
                  <c:v>180</c:v>
                </c:pt>
                <c:pt idx="4">
                  <c:v>250</c:v>
                </c:pt>
                <c:pt idx="5">
                  <c:v>320</c:v>
                </c:pt>
                <c:pt idx="6">
                  <c:v>400</c:v>
                </c:pt>
                <c:pt idx="7">
                  <c:v>480</c:v>
                </c:pt>
                <c:pt idx="8">
                  <c:v>550</c:v>
                </c:pt>
                <c:pt idx="9">
                  <c:v>620</c:v>
                </c:pt>
                <c:pt idx="10">
                  <c:v>700</c:v>
                </c:pt>
                <c:pt idx="11">
                  <c:v>780</c:v>
                </c:pt>
                <c:pt idx="12">
                  <c:v>850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>1.4</c:v>
                </c:pt>
                <c:pt idx="4">
                  <c:v>2.1</c:v>
                </c:pt>
                <c:pt idx="5">
                  <c:v>3</c:v>
                </c:pt>
                <c:pt idx="6">
                  <c:v>3.8</c:v>
                </c:pt>
                <c:pt idx="7">
                  <c:v>4.9</c:v>
                </c:pt>
                <c:pt idx="8">
                  <c:v>5.6</c:v>
                </c:pt>
                <c:pt idx="9">
                  <c:v>6.8</c:v>
                </c:pt>
                <c:pt idx="10">
                  <c:v>7.5</c:v>
                </c:pt>
                <c:pt idx="11">
                  <c:v>8.9</c:v>
                </c:pt>
                <c:pt idx="12">
                  <c:v>9.8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028090"/>
            </a:solidFill>
            <a:ln w="2540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50</c:v>
                </c:pt>
                <c:pt idx="1">
                  <c:v>80</c:v>
                </c:pt>
                <c:pt idx="2">
                  <c:v>120</c:v>
                </c:pt>
                <c:pt idx="3">
                  <c:v>180</c:v>
                </c:pt>
                <c:pt idx="4">
                  <c:v>250</c:v>
                </c:pt>
                <c:pt idx="5">
                  <c:v>320</c:v>
                </c:pt>
                <c:pt idx="6">
                  <c:v>400</c:v>
                </c:pt>
                <c:pt idx="7">
                  <c:v>480</c:v>
                </c:pt>
                <c:pt idx="8">
                  <c:v>550</c:v>
                </c:pt>
                <c:pt idx="9">
                  <c:v>620</c:v>
                </c:pt>
                <c:pt idx="10">
                  <c:v>700</c:v>
                </c:pt>
                <c:pt idx="11">
                  <c:v>780</c:v>
                </c:pt>
                <c:pt idx="12">
                  <c:v>850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>-0.1</c:v>
                </c:pt>
                <c:pt idx="1">
                  <c:v>0.26</c:v>
                </c:pt>
                <c:pt idx="2">
                  <c:v>0.73</c:v>
                </c:pt>
                <c:pt idx="3">
                  <c:v>1.45</c:v>
                </c:pt>
                <c:pt idx="4">
                  <c:v>2.29</c:v>
                </c:pt>
                <c:pt idx="5">
                  <c:v>3.13</c:v>
                </c:pt>
                <c:pt idx="6">
                  <c:v>4.09</c:v>
                </c:pt>
                <c:pt idx="7">
                  <c:v>5.05</c:v>
                </c:pt>
                <c:pt idx="8">
                  <c:v>5.88</c:v>
                </c:pt>
                <c:pt idx="9">
                  <c:v>6.72</c:v>
                </c:pt>
                <c:pt idx="10">
                  <c:v>7.68</c:v>
                </c:pt>
                <c:pt idx="11">
                  <c:v>8.64</c:v>
                </c:pt>
                <c:pt idx="12">
                  <c:v>9.48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Route Distance (km)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ETA Error (hours)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Delay (hrs)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MUM-WH4</c:v>
                  </c:pt>
                  <c:pt idx="1">
                    <c:v>DEL-HUB2</c:v>
                  </c:pt>
                  <c:pt idx="2">
                    <c:v>BLR-CTR1</c:v>
                  </c:pt>
                  <c:pt idx="3">
                    <c:v>HYD-DPT3</c:v>
                  </c:pt>
                  <c:pt idx="4">
                    <c:v>CHE-WH1</c:v>
                  </c:pt>
                  <c:pt idx="5">
                    <c:v>PNE-HUB5</c:v>
                  </c:pt>
                  <c:pt idx="6">
                    <c:v>KOL-CTR2</c:v>
                  </c:pt>
                  <c:pt idx="7">
                    <c:v>AHM-DPT1</c:v>
                  </c:pt>
                  <c:pt idx="8">
                    <c:v>LKW-HUB3</c:v>
                  </c:pt>
                  <c:pt idx="9">
                    <c:v>JAI-WH2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8.4</c:v>
                </c:pt>
                <c:pt idx="1">
                  <c:v>7.1</c:v>
                </c:pt>
                <c:pt idx="2">
                  <c:v>6.8</c:v>
                </c:pt>
                <c:pt idx="3">
                  <c:v>6.2</c:v>
                </c:pt>
                <c:pt idx="4">
                  <c:v>5.9</c:v>
                </c:pt>
                <c:pt idx="5">
                  <c:v>5.4</c:v>
                </c:pt>
                <c:pt idx="6">
                  <c:v>4.8</c:v>
                </c:pt>
                <c:pt idx="7">
                  <c:v>4.3</c:v>
                </c:pt>
                <c:pt idx="8">
                  <c:v>3.9</c:v>
                </c:pt>
                <c:pt idx="9">
                  <c:v>3.5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Hub ID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Avg Added Delay (hrs)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Score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GraphSAGE Hub Embedding</c:v>
                  </c:pt>
                  <c:pt idx="1">
                    <c:v>Origin-Dest Distance</c:v>
                  </c:pt>
                  <c:pt idx="2">
                    <c:v>Hist. Hub Delay (7d avg)</c:v>
                  </c:pt>
                  <c:pt idx="3">
                    <c:v>Time of Day</c:v>
                  </c:pt>
                  <c:pt idx="4">
                    <c:v>Day of Week</c:v>
                  </c:pt>
                  <c:pt idx="5">
                    <c:v>Package Weight</c:v>
                  </c:pt>
                  <c:pt idx="6">
                    <c:v>No. of Connections</c:v>
                  </c:pt>
                  <c:pt idx="7">
                    <c:v>Weather Index</c:v>
                  </c:pt>
                  <c:pt idx="8">
                    <c:v>Vehicle Type</c:v>
                  </c:pt>
                  <c:pt idx="9">
                    <c:v>Route Type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0.31</c:v>
                </c:pt>
                <c:pt idx="1">
                  <c:v>0.18</c:v>
                </c:pt>
                <c:pt idx="2">
                  <c:v>0.14</c:v>
                </c:pt>
                <c:pt idx="3">
                  <c:v>0.1</c:v>
                </c:pt>
                <c:pt idx="4">
                  <c:v>0.08</c:v>
                </c:pt>
                <c:pt idx="5">
                  <c:v>0.07</c:v>
                </c:pt>
                <c:pt idx="6">
                  <c:v>0.05</c:v>
                </c:pt>
                <c:pt idx="7">
                  <c:v>0.04</c:v>
                </c:pt>
                <c:pt idx="8">
                  <c:v>0.02</c:v>
                </c:pt>
                <c:pt idx="9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Feature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Importance Score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OSRM Baseline</c:v>
                </c:pt>
              </c:strCache>
            </c:strRef>
          </c:tx>
          <c:spPr>
            <a:solidFill>
              <a:srgbClr val="F484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MAE (hrs)</c:v>
                  </c:pt>
                  <c:pt idx="1">
                    <c:v>RMSE (hrs)</c:v>
                  </c:pt>
                  <c:pt idx="2">
                    <c:v>MAPE 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3.8</c:v>
                </c:pt>
                <c:pt idx="1">
                  <c:v>5.2</c:v>
                </c:pt>
                <c:pt idx="2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MAE (hrs)</c:v>
                  </c:pt>
                  <c:pt idx="1">
                    <c:v>RMSE (hrs)</c:v>
                  </c:pt>
                  <c:pt idx="2">
                    <c:v>MAPE 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</c:v>
                </c:pt>
                <c:pt idx="1">
                  <c:v>1.7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Error Metric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Error Value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28090">
              <a:alpha val="18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3200400"/>
            <a:ext cx="2011680" cy="201168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Delhivery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Intelligence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Delivery ETAs with Graph ML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29260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858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Khushi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ML + Graph Engineering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Sneha Jaiswal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Visualization + Business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Delhivery's existing ETA system falls short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2336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91440" cy="3931920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System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OSRM-based routing engine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purely on road distance &amp; speed limits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real-world hub congestion &amp; delays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Significantly underestimates actual delivery 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383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broken SLAs &amp; poor customer experience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822960"/>
            <a:ext cx="402336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00600" y="822960"/>
            <a:ext cx="91440" cy="3931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005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ML + XGBoost ETA Engine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1874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delivery network as a graph of hubs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377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GraphSAGE to learn hub-level delay patterns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8803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for final ETA prediction with rich features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3383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bottleneck hubs for ops leadership action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ETA Error Analysis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badly OSRM underestimates delivery time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Error Analysis: OSRM vs Actual Delivery Time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shows how far off the current OSRM system is. Most deliveries take much longer than predicted — especially in the 2–6 hour range.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34440"/>
          <a:ext cx="84124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OSRM over-concentrates predictions in the 1–4h range, while actual deliveries often spill into 4–12h buckets.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Error by Route Distance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represents a route. Longer routes consistently show higher underestimation errors — OSRM is most wrong on long-haul deliveries.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34440"/>
          <a:ext cx="84124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For routes &gt;500 km, OSRM underestimates by 5–10 hours on average — a critical operational failure.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ML Architecture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GraphSAGE learns hub-level delay patterns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Architecture: Graph Neural Network Pipeline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508760" cy="3474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0972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783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267712"/>
            <a:ext cx="9601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237744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delivery_data.csv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(routes, timestamps,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IDs, distances)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237744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1892808" y="2176272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39112" y="1005840"/>
            <a:ext cx="1508760" cy="347472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39112" y="10972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039112" y="1783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Build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13432" y="2267712"/>
            <a:ext cx="9601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237744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= Nodes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= Edges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= Edge weight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47872" y="237744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7" name="Text 15"/>
          <p:cNvSpPr/>
          <p:nvPr/>
        </p:nvSpPr>
        <p:spPr>
          <a:xfrm>
            <a:off x="3611880" y="2176272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58184" y="1005840"/>
            <a:ext cx="1508760" cy="347472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758184" y="10972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758184" y="1783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32504" y="2267712"/>
            <a:ext cx="9601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758184" y="237744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hub embeddings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neighborhood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patterns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237744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4" name="Text 22"/>
          <p:cNvSpPr/>
          <p:nvPr/>
        </p:nvSpPr>
        <p:spPr>
          <a:xfrm>
            <a:off x="5330952" y="2176272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77256" y="1005840"/>
            <a:ext cx="1508760" cy="3474720"/>
          </a:xfrm>
          <a:prstGeom prst="rect">
            <a:avLst/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477256" y="10972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477256" y="1783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751576" y="2267712"/>
            <a:ext cx="9601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477256" y="237744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hub embeddings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route features 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ETA prediction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86016" y="237744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1" name="Text 29"/>
          <p:cNvSpPr/>
          <p:nvPr/>
        </p:nvSpPr>
        <p:spPr>
          <a:xfrm>
            <a:off x="7050024" y="2176272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96328" y="1005840"/>
            <a:ext cx="1508760" cy="3474720"/>
          </a:xfrm>
          <a:prstGeom prst="rect">
            <a:avLst/>
          </a:prstGeom>
          <a:solidFill>
            <a:srgbClr val="F4845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196328" y="10972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196328" y="1783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470648" y="2267712"/>
            <a:ext cx="9601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7196328" y="237744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ETAs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hubs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recommendations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6634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Raw delivery logs → Graph construction → Hub embedding via GraphSAGE → XGBoost ETA → Actionable insights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Bottleneck Hubs by Average Delay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hubs causing the most delays across the network. A hub is flagged as a bottleneck when its average added delay exceeds the network mean by &gt;1.5 standard deviations.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34440"/>
          <a:ext cx="84124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MUM-WH4 and DEL-HUB2 alone account for ~28% of total network delay. Fixing these 2 hubs could recover millions in SLA penalties.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Feature Importance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shows which variables matter most for predicting accurate ETAs. GraphSAGE hub embeddings are the single most powerful predictor — proving the value of graph-based modelling.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34440"/>
          <a:ext cx="84124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Graph-derived features (hub embeddings + historical hub delay) together contribute 45% of model power — justifying the graph ML approach.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better is our model vs the baseline?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Performance: Our Model vs OSRM Baseline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 three key error metrics. Lower values = better. Our GraphSAGE + XGBoost model dramatically reduces all error metrics compared to the OSRM baseline.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234440"/>
          <a:ext cx="8412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526280"/>
            <a:ext cx="2286000" cy="50292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4526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</a:t>
            </a:r>
            <a:pPr algn="ctr" indent="0" marL="0">
              <a:buNone/>
            </a:pPr>
            <a:r>
              <a:rPr lang="en-US" sz="10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MAE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37560" y="4526280"/>
            <a:ext cx="2286000" cy="50292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337560" y="4526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</a:t>
            </a:r>
            <a:pPr algn="ctr" indent="0" marL="0">
              <a:buNone/>
            </a:pPr>
            <a:r>
              <a:rPr lang="en-US" sz="10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RMSE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35040" y="4526280"/>
            <a:ext cx="2286000" cy="50292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035040" y="4526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</a:t>
            </a:r>
            <a:pPr algn="ctr" indent="0" marL="0">
              <a:buNone/>
            </a:pPr>
            <a:r>
              <a:rPr lang="en-US" sz="10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MAPE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Recommendations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operations leadership should do next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Recommendations for Operations Leadership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0690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91440" cy="1645920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784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Fix Top 2 Bottleneck Hubs First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MUM-WH4 &amp; DEL-HUB2 together cause ~28% of all network delays. Prioritise capacity expansion and staffing at these hubs for immediate SLA impact.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0690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68680"/>
            <a:ext cx="91440" cy="1645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9784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Deploy the New ETA Model in Production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GraphSAGE+XGBoost model reduces MAPE from 42% → 13%. Replacing OSRM with this model will immediately improve customer-facing ETA accuracy.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834640"/>
            <a:ext cx="40690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834640"/>
            <a:ext cx="91440" cy="1645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9443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Re-Route High-Volume Long-Haul Shipments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3375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&gt;500km show the highest OSRM error. Applying graph-aware routing for these routes will prevent the majority of &gt;5-hour delay surprises.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40690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91440" cy="16459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443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Monitor Hub Embeddings Weekly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33375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GraphSAGE pipeline on a weekly refresh cycle. Hub delay patterns shift seasonally — keeping embeddings fresh ensures the model stays accurate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926080"/>
            <a:ext cx="3657600" cy="36576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-457200"/>
            <a:ext cx="2743200" cy="27432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ML delivers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smarter ETA.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underestimates ETAs by up to 10 hours on long routes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0083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 learns real hub-level delay patterns from network structure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41071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hub embeddings cut prediction error by ~70%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81304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MUM-WH4 &amp; DEL-HUB2 are priority bottlenecks for immediate ops action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Khushi  ·  Sneha Jaiswal  ·  Summer Projects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Delhivery — Graph-Based Network Intelligence</dc:title>
  <dc:subject>PptxGenJS Presentation</dc:subject>
  <dc:creator>Khushi &amp; Sneha Jaiswal</dc:creator>
  <cp:lastModifiedBy>Khushi &amp; Sneha Jaiswal</cp:lastModifiedBy>
  <cp:revision>1</cp:revision>
  <dcterms:created xsi:type="dcterms:W3CDTF">2026-05-22T11:53:29Z</dcterms:created>
  <dcterms:modified xsi:type="dcterms:W3CDTF">2026-05-22T11:53:29Z</dcterms:modified>
</cp:coreProperties>
</file>